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161D6D-F89E-CB9F-B4F5-88D172FE94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39" y="0"/>
            <a:ext cx="12185521" cy="6858000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828799" y="-100797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Details</a:t>
            </a:r>
            <a:endParaRPr lang="en-IN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172DB99-AA9C-2621-CE9A-FB6054D0FC5E}"/>
              </a:ext>
            </a:extLst>
          </p:cNvPr>
          <p:cNvGrpSpPr/>
          <p:nvPr/>
        </p:nvGrpSpPr>
        <p:grpSpPr>
          <a:xfrm>
            <a:off x="456151" y="1973548"/>
            <a:ext cx="8658352" cy="2626787"/>
            <a:chOff x="2388226" y="2421054"/>
            <a:chExt cx="8658352" cy="2626787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540AC4B0-1C1D-1A75-43B1-AF9D1999F843}"/>
                </a:ext>
              </a:extLst>
            </p:cNvPr>
            <p:cNvSpPr/>
            <p:nvPr/>
          </p:nvSpPr>
          <p:spPr>
            <a:xfrm>
              <a:off x="2390942" y="3126595"/>
              <a:ext cx="8649316" cy="51016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16EB61C-FE2F-A4EF-EC89-BD9EE2B33793}"/>
                </a:ext>
              </a:extLst>
            </p:cNvPr>
            <p:cNvSpPr/>
            <p:nvPr/>
          </p:nvSpPr>
          <p:spPr>
            <a:xfrm>
              <a:off x="2397261" y="2421054"/>
              <a:ext cx="8649317" cy="51016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928247A5-7940-F10C-97F0-3C83392788A0}"/>
                </a:ext>
              </a:extLst>
            </p:cNvPr>
            <p:cNvSpPr/>
            <p:nvPr/>
          </p:nvSpPr>
          <p:spPr>
            <a:xfrm>
              <a:off x="2397262" y="3832136"/>
              <a:ext cx="8649316" cy="51016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68894C3C-6390-ED12-6D80-5DB53867CC25}"/>
                </a:ext>
              </a:extLst>
            </p:cNvPr>
            <p:cNvSpPr/>
            <p:nvPr/>
          </p:nvSpPr>
          <p:spPr>
            <a:xfrm>
              <a:off x="2388226" y="4537677"/>
              <a:ext cx="8658352" cy="51016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02E1BEA-26F4-0CAE-50CA-20BB35DE2FAC}"/>
                </a:ext>
              </a:extLst>
            </p:cNvPr>
            <p:cNvGrpSpPr/>
            <p:nvPr/>
          </p:nvGrpSpPr>
          <p:grpSpPr>
            <a:xfrm>
              <a:off x="2428310" y="2427046"/>
              <a:ext cx="8392126" cy="498180"/>
              <a:chOff x="2428310" y="2470315"/>
              <a:chExt cx="8392126" cy="498180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5A4819A-9967-04EF-82BC-0B435844ADDD}"/>
                  </a:ext>
                </a:extLst>
              </p:cNvPr>
              <p:cNvSpPr txBox="1"/>
              <p:nvPr/>
            </p:nvSpPr>
            <p:spPr>
              <a:xfrm>
                <a:off x="3050015" y="2491085"/>
                <a:ext cx="77704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0" dirty="0">
                    <a:solidFill>
                      <a:srgbClr val="0B1B33"/>
                    </a:solidFill>
                    <a:latin typeface="Arial"/>
                  </a:rPr>
                  <a:t>55% of the teams that shipped voice AI abandoned it, top reason first-turn understanding, and Indian field speech recognition errs over 50%. We constrain the decoder, then run it offline on a $5 chip, in any Indian language.</a:t>
                </a:r>
                <a:endParaRPr lang="en-IN" sz="2400" dirty="0"/>
              </a:p>
            </p:txBody>
          </p:sp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1574D656-40D6-89FF-7CF6-B1ADCE066C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28310" y="2470315"/>
                <a:ext cx="498180" cy="498180"/>
              </a:xfrm>
              <a:prstGeom prst="rect">
                <a:avLst/>
              </a:prstGeom>
            </p:spPr>
          </p:pic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58FADE8D-8B8D-C53A-47FE-C38521DD283F}"/>
                </a:ext>
              </a:extLst>
            </p:cNvPr>
            <p:cNvGrpSpPr/>
            <p:nvPr/>
          </p:nvGrpSpPr>
          <p:grpSpPr>
            <a:xfrm>
              <a:off x="2421986" y="3128795"/>
              <a:ext cx="8398449" cy="498180"/>
              <a:chOff x="2421990" y="3197763"/>
              <a:chExt cx="8398449" cy="498180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CDB9626-725C-911D-A872-FED5AAE951E0}"/>
                  </a:ext>
                </a:extLst>
              </p:cNvPr>
              <p:cNvSpPr txBox="1"/>
              <p:nvPr/>
            </p:nvSpPr>
            <p:spPr>
              <a:xfrm>
                <a:off x="3043699" y="3216021"/>
                <a:ext cx="77767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50" b="0" dirty="0">
                    <a:solidFill>
                      <a:srgbClr val="0B1B33"/>
                    </a:solidFill>
                    <a:latin typeface="Arial"/>
                  </a:rPr>
                  <a:t>AI &amp; Machine Learning</a:t>
                </a:r>
                <a:endParaRPr lang="en-IN" sz="2400" dirty="0"/>
              </a:p>
            </p:txBody>
          </p:sp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A201AA84-E780-012A-89B6-35EDE52C53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/>
              <a:stretch/>
            </p:blipFill>
            <p:spPr>
              <a:xfrm>
                <a:off x="2421990" y="3197763"/>
                <a:ext cx="498180" cy="498180"/>
              </a:xfrm>
              <a:prstGeom prst="rect">
                <a:avLst/>
              </a:prstGeom>
            </p:spPr>
          </p:pic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8470562-E468-55D4-848F-162CEAAEB398}"/>
                </a:ext>
              </a:extLst>
            </p:cNvPr>
            <p:cNvGrpSpPr/>
            <p:nvPr/>
          </p:nvGrpSpPr>
          <p:grpSpPr>
            <a:xfrm>
              <a:off x="2428306" y="3839720"/>
              <a:ext cx="8392129" cy="498180"/>
              <a:chOff x="2428310" y="3824357"/>
              <a:chExt cx="8392129" cy="498180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AF93A8-32B4-C052-4214-1CF62371D2F5}"/>
                  </a:ext>
                </a:extLst>
              </p:cNvPr>
              <p:cNvSpPr txBox="1"/>
              <p:nvPr/>
            </p:nvSpPr>
            <p:spPr>
              <a:xfrm>
                <a:off x="3050018" y="3842615"/>
                <a:ext cx="77704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50" b="0" dirty="0">
                    <a:solidFill>
                      <a:srgbClr val="0B1B33"/>
                    </a:solidFill>
                    <a:latin typeface="Arial"/>
                  </a:rPr>
                  <a:t>RISC</a:t>
                </a:r>
                <a:endParaRPr lang="en-IN" sz="2400" dirty="0"/>
              </a:p>
            </p:txBody>
          </p:sp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B9D16F72-0EB4-A82B-30BD-74D0D441AC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/>
              <a:stretch/>
            </p:blipFill>
            <p:spPr>
              <a:xfrm>
                <a:off x="2428310" y="3824357"/>
                <a:ext cx="498180" cy="498180"/>
              </a:xfrm>
              <a:prstGeom prst="rect">
                <a:avLst/>
              </a:prstGeom>
            </p:spPr>
          </p:pic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E63CDE5-CB86-EF78-7325-45E4D301633E}"/>
                </a:ext>
              </a:extLst>
            </p:cNvPr>
            <p:cNvGrpSpPr/>
            <p:nvPr/>
          </p:nvGrpSpPr>
          <p:grpSpPr>
            <a:xfrm>
              <a:off x="2425594" y="4543669"/>
              <a:ext cx="8394841" cy="498180"/>
              <a:chOff x="2425594" y="4494686"/>
              <a:chExt cx="8394841" cy="498180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D3CB0BD-2EAE-B6B2-AD04-699B35092B08}"/>
                  </a:ext>
                </a:extLst>
              </p:cNvPr>
              <p:cNvSpPr txBox="1"/>
              <p:nvPr/>
            </p:nvSpPr>
            <p:spPr>
              <a:xfrm>
                <a:off x="3047303" y="4512944"/>
                <a:ext cx="77731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50" b="0" dirty="0">
                    <a:solidFill>
                      <a:srgbClr val="0B1B33"/>
                    </a:solidFill>
                    <a:latin typeface="Arial"/>
                  </a:rPr>
                  <a:t>Harsh Gounder (Team Lead)  ·  Farhan Fidin  ·  Shlok Srivastava  ·  Shivam Dureja</a:t>
                </a:r>
                <a:endParaRPr lang="en-IN" sz="2400" dirty="0"/>
              </a:p>
            </p:txBody>
          </p:sp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705CE644-0636-DD4C-E597-81469FA0F7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/>
              <a:stretch/>
            </p:blipFill>
            <p:spPr>
              <a:xfrm>
                <a:off x="2425594" y="4494686"/>
                <a:ext cx="498180" cy="498180"/>
              </a:xfrm>
              <a:prstGeom prst="rect">
                <a:avLst/>
              </a:prstGeom>
            </p:spPr>
          </p:pic>
        </p:grp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82B9E94-DDD7-66B0-1882-0CA4F585599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315159" y="57908"/>
            <a:ext cx="1780390" cy="8020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6393BD-DFB6-0F6D-8EB2-E2C09987894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6451" y="10025"/>
            <a:ext cx="2408675" cy="650992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FCEB535-4ABE-4144-AFBC-E040FC76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1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60216AA1-AEC5-3642-F515-B4315A0C5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@Hypnexis Idea submission -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7DAE84-8F9B-39FB-725D-88B14D2546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39" y="0"/>
            <a:ext cx="12185521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@Hypnexis Idea submission - Template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144BFB-CF04-0A51-50AF-29430704D0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15159" y="57908"/>
            <a:ext cx="1780390" cy="802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40A9C3-15D5-8A1A-2C98-E3E903545C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451" y="10025"/>
            <a:ext cx="2408675" cy="650992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3BD1906F-935A-D431-F98F-AA90BB90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ABOUT THE PROJECT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" y="1115568"/>
            <a:ext cx="10963656" cy="8412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650" b="1">
                <a:solidFill>
                  <a:srgbClr val="0B1B33"/>
                </a:solidFill>
                <a:latin typeface="Arial"/>
              </a:rPr>
              <a:t>VĀKYA:  a $5 device that hears Indian speech and performs a verified action, offline, forever.</a:t>
            </a:r>
          </a:p>
          <a:p>
            <a:pPr algn="l">
              <a:lnSpc>
                <a:spcPct val="95000"/>
              </a:lnSpc>
            </a:pPr>
            <a:r>
              <a:rPr sz="1019" b="0">
                <a:solidFill>
                  <a:srgbClr val="2A4A77"/>
                </a:solidFill>
                <a:latin typeface="Arial"/>
              </a:rPr>
              <a:t>One core. Many instruction sets.  The task compiles to a grammar; the grammar IS the instruction set, so nothing task-specific is baked into the weights.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2084831"/>
            <a:ext cx="3547872" cy="40416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lnSpc>
                <a:spcPct val="95000"/>
              </a:lnSpc>
              <a:spcAft>
                <a:spcPts val="250"/>
              </a:spcAft>
            </a:pPr>
            <a:r>
              <a:rPr sz="950" b="1">
                <a:solidFill>
                  <a:srgbClr val="A83A06"/>
                </a:solidFill>
                <a:latin typeface="Arial"/>
              </a:rPr>
              <a:t>THE FAILURE, MEASURED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930" b="0">
                <a:solidFill>
                  <a:srgbClr val="0B1B33"/>
                </a:solidFill>
                <a:latin typeface="Arial"/>
              </a:rPr>
              <a:t>•  55% of the 455 teams that built voice agents abandoned the project. Top reason: first-turn understanding.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930" b="0">
                <a:solidFill>
                  <a:srgbClr val="0B1B33"/>
                </a:solidFill>
                <a:latin typeface="Arial"/>
              </a:rPr>
              <a:t>•  95% of users report frustration with voice AI at some point, and a third still prefer a human.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930" b="0">
                <a:solidFill>
                  <a:srgbClr val="0B1B33"/>
                </a:solidFill>
                <a:latin typeface="Arial"/>
              </a:rPr>
              <a:t>•  Drive-thru voice AI: 85% accuracy. Humans deliver 89-92%. IVR abandonment 38%, and 67% of calls escalate anyway.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930" b="0">
                <a:solidFill>
                  <a:srgbClr val="0B1B33"/>
                </a:solidFill>
                <a:latin typeface="Arial"/>
              </a:rPr>
              <a:t>•  In Indian fields: 50%+ speech-to-text error from dialect, slang and noise. (Farm Vaidya / IFPRI, 2026)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930" b="1">
                <a:solidFill>
                  <a:srgbClr val="A83A06"/>
                </a:solidFill>
                <a:latin typeface="Arial"/>
              </a:rPr>
              <a:t>•  It fails silently, and it fails hardest on the people with the least power.</a:t>
            </a:r>
          </a:p>
          <a:p>
            <a:pPr algn="l">
              <a:lnSpc>
                <a:spcPct val="94000"/>
              </a:lnSpc>
              <a:spcAft>
                <a:spcPts val="200"/>
              </a:spcAft>
            </a:pPr>
            <a:r>
              <a:rPr sz="930" b="0">
                <a:solidFill>
                  <a:srgbClr val="0B1B33"/>
                </a:solidFill>
                <a:latin typeface="Arial"/>
              </a:rPr>
              <a:t/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930" b="1">
                <a:solidFill>
                  <a:srgbClr val="0B1B33"/>
                </a:solidFill>
                <a:latin typeface="Arial"/>
              </a:rPr>
              <a:t>Every one of those systems answers in an OPEN vocabulary. The failure lives in the gap between what was heard and what was executed.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2084831"/>
            <a:ext cx="3547872" cy="40416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lnSpc>
                <a:spcPct val="95000"/>
              </a:lnSpc>
              <a:spcAft>
                <a:spcPts val="250"/>
              </a:spcAft>
            </a:pPr>
            <a:r>
              <a:rPr sz="950" b="1">
                <a:solidFill>
                  <a:srgbClr val="0B5ED7"/>
                </a:solidFill>
                <a:latin typeface="Arial"/>
              </a:rPr>
              <a:t>THE MOVE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1050" b="1">
                <a:solidFill>
                  <a:srgbClr val="0B5ED7"/>
                </a:solidFill>
                <a:latin typeface="Arial"/>
              </a:rPr>
              <a:t>Move the constraint from the model to the decoder.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930" b="0">
                <a:solidFill>
                  <a:srgbClr val="0B1B33"/>
                </a:solidFill>
                <a:latin typeface="Arial"/>
              </a:rPr>
              <a:t>•  A byte-level grammar compiled from the target's own schemas constrains every decoded token, so the action is well-formed by construction, in any script.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930" b="1">
                <a:solidFill>
                  <a:srgbClr val="0B6B4F"/>
                </a:solidFill>
                <a:latin typeface="Arial"/>
              </a:rPr>
              <a:t>•  A garbled utterance can only produce a valid action or a refusal. Never a wrong one.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930" b="0">
                <a:solidFill>
                  <a:srgbClr val="0B1B33"/>
                </a:solidFill>
                <a:latin typeface="Arial"/>
              </a:rPr>
              <a:t>•  Guardrail, audit trail and refusal stop being aspirations and become architecture.</a:t>
            </a:r>
          </a:p>
          <a:p>
            <a:pPr algn="l">
              <a:lnSpc>
                <a:spcPct val="94000"/>
              </a:lnSpc>
              <a:spcAft>
                <a:spcPts val="200"/>
              </a:spcAft>
            </a:pPr>
            <a:r>
              <a:rPr sz="930" b="0">
                <a:solidFill>
                  <a:srgbClr val="0B1B33"/>
                </a:solidFill>
                <a:latin typeface="Arial"/>
              </a:rPr>
              <a:t/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930" b="0">
                <a:solidFill>
                  <a:srgbClr val="0B1B33"/>
                </a:solidFill>
                <a:latin typeface="Arial"/>
              </a:rPr>
              <a:t>•  The grammar becomes the localisation layer: it carries date formats, numeral systems, currency units and enum members, so the model never has to learn them.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9288" y="2084831"/>
            <a:ext cx="3557016" cy="40416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lnSpc>
                <a:spcPct val="95000"/>
              </a:lnSpc>
              <a:spcAft>
                <a:spcPts val="250"/>
              </a:spcAft>
            </a:pPr>
            <a:r>
              <a:rPr sz="950" b="1">
                <a:solidFill>
                  <a:srgbClr val="0B6B4F"/>
                </a:solidFill>
                <a:latin typeface="Arial"/>
              </a:rPr>
              <a:t>THE SYSTEM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1019" b="1">
                <a:solidFill>
                  <a:srgbClr val="0B6B4F"/>
                </a:solidFill>
                <a:latin typeface="Arial"/>
              </a:rPr>
              <a:t>One binary. Three hardware tiers. Zero network bytes. Zero marginal cost.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930" b="0">
                <a:solidFill>
                  <a:srgbClr val="0B1B33"/>
                </a:solidFill>
                <a:latin typeface="Arial"/>
              </a:rPr>
              <a:t>•  Tier A  $5 MCU, wake word plus a grammar-constrained decoder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930" b="0">
                <a:solidFill>
                  <a:srgbClr val="0B1B33"/>
                </a:solidFill>
                <a:latin typeface="Arial"/>
              </a:rPr>
              <a:t>•  Tier B  sub-$200 phone or RPi 5, full multilingual tool calling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930" b="0">
                <a:solidFill>
                  <a:srgbClr val="0B1B33"/>
                </a:solidFill>
                <a:latin typeface="Arial"/>
              </a:rPr>
              <a:t>•  Tier C  cloud, only when confidence falls below the threshold</a:t>
            </a:r>
          </a:p>
          <a:p>
            <a:pPr algn="l">
              <a:lnSpc>
                <a:spcPct val="94000"/>
              </a:lnSpc>
              <a:spcAft>
                <a:spcPts val="200"/>
              </a:spcAft>
            </a:pPr>
            <a:r>
              <a:rPr sz="930" b="0">
                <a:solidFill>
                  <a:srgbClr val="0B1B33"/>
                </a:solidFill>
                <a:latin typeface="Arial"/>
              </a:rPr>
              <a:t/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930" b="1">
                <a:solidFill>
                  <a:srgbClr val="0B1B33"/>
                </a:solidFill>
                <a:latin typeface="Arial"/>
              </a:rPr>
              <a:t>•  One box, any task. Re-point it by recompiling the grammar, not by retraining the model.</a:t>
            </a:r>
          </a:p>
          <a:p>
            <a:pPr algn="l">
              <a:lnSpc>
                <a:spcPct val="94000"/>
              </a:lnSpc>
              <a:spcAft>
                <a:spcPts val="200"/>
              </a:spcAft>
            </a:pPr>
            <a:r>
              <a:rPr sz="930" b="0">
                <a:solidFill>
                  <a:srgbClr val="0B1B33"/>
                </a:solidFill>
                <a:latin typeface="Arial"/>
              </a:rPr>
              <a:t/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880" b="0" i="1">
                <a:solidFill>
                  <a:srgbClr val="2A4A77"/>
                </a:solidFill>
                <a:latin typeface="Arial"/>
              </a:rPr>
              <a:t>Grounded entirely on open work: Cactus Needle 3 (Apache 2.0), Espressif ESP-SR, Oído.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8AA5903-E9C5-5BDB-6311-F85D896585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39" y="0"/>
            <a:ext cx="12185521" cy="6858000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@Hypnexis Idea submission - Template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564B5F-75B3-72E1-0330-DDDBED8436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15159" y="57908"/>
            <a:ext cx="1780390" cy="8020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A78084-6AF1-B766-735C-974D22D767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451" y="10025"/>
            <a:ext cx="2408675" cy="650992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612648" y="1207008"/>
            <a:ext cx="50292" cy="566928"/>
          </a:xfrm>
          <a:prstGeom prst="rect">
            <a:avLst/>
          </a:prstGeom>
          <a:solidFill>
            <a:srgbClr val="0B5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667512" y="1207008"/>
            <a:ext cx="5138928" cy="5669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36576" bIns="36576" wrap="square" lIns="73152" rIns="73152"/>
          <a:lstStyle/>
          <a:p>
            <a:pPr algn="l">
              <a:spcAft>
                <a:spcPts val="100"/>
              </a:spcAft>
            </a:pPr>
            <a:r>
              <a:rPr sz="960" b="1">
                <a:solidFill>
                  <a:srgbClr val="0B5ED7"/>
                </a:solidFill>
                <a:latin typeface="Arial"/>
              </a:rPr>
              <a:t>MIC</a:t>
            </a:r>
          </a:p>
          <a:p>
            <a:pPr algn="l">
              <a:lnSpc>
                <a:spcPct val="92000"/>
              </a:lnSpc>
            </a:pPr>
            <a:r>
              <a:rPr sz="830" b="0">
                <a:solidFill>
                  <a:srgbClr val="0B1B33"/>
                </a:solidFill>
                <a:latin typeface="Arial"/>
              </a:rPr>
              <a:t>WakeNet wake word, 98% at 1 m, one false trigger per 12 h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108960" y="1755648"/>
            <a:ext cx="365760" cy="23774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900" b="1">
                <a:solidFill>
                  <a:srgbClr val="0B5ED7"/>
                </a:solidFill>
                <a:latin typeface="Arial"/>
              </a:rPr>
              <a:t>▼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612648" y="1993392"/>
            <a:ext cx="50292" cy="566928"/>
          </a:xfrm>
          <a:prstGeom prst="rect">
            <a:avLst/>
          </a:prstGeom>
          <a:solidFill>
            <a:srgbClr val="0B5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67512" y="1993392"/>
            <a:ext cx="5138928" cy="5669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36576" bIns="36576" wrap="square" lIns="73152" rIns="73152"/>
          <a:lstStyle/>
          <a:p>
            <a:pPr algn="l">
              <a:spcAft>
                <a:spcPts val="100"/>
              </a:spcAft>
            </a:pPr>
            <a:r>
              <a:rPr sz="960" b="1">
                <a:solidFill>
                  <a:srgbClr val="0B5ED7"/>
                </a:solidFill>
                <a:latin typeface="Arial"/>
              </a:rPr>
              <a:t>SPEECH TO TEXT</a:t>
            </a:r>
          </a:p>
          <a:p>
            <a:pPr algn="l">
              <a:lnSpc>
                <a:spcPct val="92000"/>
              </a:lnSpc>
            </a:pPr>
            <a:r>
              <a:rPr sz="830" b="0">
                <a:solidFill>
                  <a:srgbClr val="0B1B33"/>
                </a:solidFill>
                <a:latin typeface="Arial"/>
              </a:rPr>
              <a:t>Whistle 16.9 MB, 7 languages, CPU only   |   Oído 13M int8, 3.70% WER on a $5 MCU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108960" y="2542032"/>
            <a:ext cx="365760" cy="23774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900" b="1">
                <a:solidFill>
                  <a:srgbClr val="0B5ED7"/>
                </a:solidFill>
                <a:latin typeface="Arial"/>
              </a:rPr>
              <a:t>▼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612648" y="2779776"/>
            <a:ext cx="50292" cy="566928"/>
          </a:xfrm>
          <a:prstGeom prst="rect">
            <a:avLst/>
          </a:prstGeom>
          <a:solidFill>
            <a:srgbClr val="0B5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667512" y="2779776"/>
            <a:ext cx="5138928" cy="5669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36576" bIns="36576" wrap="square" lIns="73152" rIns="73152"/>
          <a:lstStyle/>
          <a:p>
            <a:pPr algn="l">
              <a:spcAft>
                <a:spcPts val="100"/>
              </a:spcAft>
            </a:pPr>
            <a:r>
              <a:rPr sz="960" b="1">
                <a:solidFill>
                  <a:srgbClr val="0B5ED7"/>
                </a:solidFill>
                <a:latin typeface="Arial"/>
              </a:rPr>
              <a:t>ROUTER</a:t>
            </a:r>
          </a:p>
          <a:p>
            <a:pPr algn="l">
              <a:lnSpc>
                <a:spcPct val="92000"/>
              </a:lnSpc>
            </a:pPr>
            <a:r>
              <a:rPr sz="830" b="0">
                <a:solidFill>
                  <a:srgbClr val="0B1B33"/>
                </a:solidFill>
                <a:latin typeface="Arial"/>
              </a:rPr>
              <a:t>script + code-mix + confidence  →  a language simplex, not a classifier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108960" y="3328416"/>
            <a:ext cx="365760" cy="23774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900" b="1">
                <a:solidFill>
                  <a:srgbClr val="0B5ED7"/>
                </a:solidFill>
                <a:latin typeface="Arial"/>
              </a:rPr>
              <a:t>▼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612648" y="3566160"/>
            <a:ext cx="50292" cy="566928"/>
          </a:xfrm>
          <a:prstGeom prst="rect">
            <a:avLst/>
          </a:prstGeom>
          <a:solidFill>
            <a:srgbClr val="0B5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667512" y="3566160"/>
            <a:ext cx="5138928" cy="5669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36576" bIns="36576" wrap="square" lIns="73152" rIns="73152"/>
          <a:lstStyle/>
          <a:p>
            <a:pPr algn="l">
              <a:spcAft>
                <a:spcPts val="100"/>
              </a:spcAft>
            </a:pPr>
            <a:r>
              <a:rPr sz="960" b="1">
                <a:solidFill>
                  <a:srgbClr val="0B5ED7"/>
                </a:solidFill>
                <a:latin typeface="Arial"/>
              </a:rPr>
              <a:t>INDIC SUBNETWORK</a:t>
            </a:r>
          </a:p>
          <a:p>
            <a:pPr algn="l">
              <a:lnSpc>
                <a:spcPct val="92000"/>
              </a:lnSpc>
            </a:pPr>
            <a:r>
              <a:rPr sz="830" b="0">
                <a:solidFill>
                  <a:srgbClr val="0B1B33"/>
                </a:solidFill>
                <a:latin typeface="Arial"/>
              </a:rPr>
              <a:t>4 / 8 / 16 / 20 layers  ·  29-121M params  ·  8-29 MB binary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108960" y="4114800"/>
            <a:ext cx="365760" cy="23774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900" b="1">
                <a:solidFill>
                  <a:srgbClr val="0B5ED7"/>
                </a:solidFill>
                <a:latin typeface="Arial"/>
              </a:rPr>
              <a:t>▼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612648" y="4352544"/>
            <a:ext cx="50292" cy="566928"/>
          </a:xfrm>
          <a:prstGeom prst="rect">
            <a:avLst/>
          </a:prstGeom>
          <a:solidFill>
            <a:srgbClr val="0B5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667512" y="4352544"/>
            <a:ext cx="5138928" cy="5669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36576" bIns="36576" wrap="square" lIns="73152" rIns="73152"/>
          <a:lstStyle/>
          <a:p>
            <a:pPr algn="l">
              <a:spcAft>
                <a:spcPts val="100"/>
              </a:spcAft>
            </a:pPr>
            <a:r>
              <a:rPr sz="960" b="1">
                <a:solidFill>
                  <a:srgbClr val="0B5ED7"/>
                </a:solidFill>
                <a:latin typeface="Arial"/>
              </a:rPr>
              <a:t>GRAMMAR</a:t>
            </a:r>
          </a:p>
          <a:p>
            <a:pPr algn="l">
              <a:lnSpc>
                <a:spcPct val="92000"/>
              </a:lnSpc>
            </a:pPr>
            <a:r>
              <a:rPr sz="830" b="0">
                <a:solidFill>
                  <a:srgbClr val="0B1B33"/>
                </a:solidFill>
                <a:latin typeface="Arial"/>
              </a:rPr>
              <a:t>byte-level, compiled from the task's schemas  →  well-formed by construction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108960" y="4901183"/>
            <a:ext cx="365760" cy="23774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900" b="1">
                <a:solidFill>
                  <a:srgbClr val="0B5ED7"/>
                </a:solidFill>
                <a:latin typeface="Arial"/>
              </a:rPr>
              <a:t>▼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612648" y="5138928"/>
            <a:ext cx="50292" cy="566928"/>
          </a:xfrm>
          <a:prstGeom prst="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667512" y="5138928"/>
            <a:ext cx="5138928" cy="5669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36576" bIns="36576" wrap="square" lIns="73152" rIns="73152"/>
          <a:lstStyle/>
          <a:p>
            <a:pPr algn="l">
              <a:spcAft>
                <a:spcPts val="100"/>
              </a:spcAft>
            </a:pPr>
            <a:r>
              <a:rPr sz="960" b="1">
                <a:solidFill>
                  <a:srgbClr val="0B6B4F"/>
                </a:solidFill>
                <a:latin typeface="Arial"/>
              </a:rPr>
              <a:t>OUTCOME</a:t>
            </a:r>
          </a:p>
          <a:p>
            <a:pPr algn="l">
              <a:lnSpc>
                <a:spcPct val="92000"/>
              </a:lnSpc>
            </a:pPr>
            <a:r>
              <a:rPr sz="830" b="0">
                <a:solidFill>
                  <a:srgbClr val="0B1B33"/>
                </a:solidFill>
                <a:latin typeface="Arial"/>
              </a:rPr>
              <a:t>valid action   |   refusal   |   cloud handoff   →   executor + audit log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053328" y="1207008"/>
            <a:ext cx="5522976" cy="23957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lnSpc>
                <a:spcPct val="95000"/>
              </a:lnSpc>
              <a:spcAft>
                <a:spcPts val="250"/>
              </a:spcAft>
            </a:pPr>
            <a:r>
              <a:rPr sz="950" b="1">
                <a:solidFill>
                  <a:srgbClr val="0B5ED7"/>
                </a:solidFill>
                <a:latin typeface="Arial"/>
              </a:rPr>
              <a:t>THREE TIERS, ONE BINARY</a:t>
            </a:r>
          </a:p>
          <a:p>
            <a:pPr algn="l">
              <a:spcAft>
                <a:spcPts val="150"/>
              </a:spcAft>
            </a:pPr>
            <a:r>
              <a:rPr sz="819" b="1">
                <a:solidFill>
                  <a:srgbClr val="0B5ED7"/>
                </a:solidFill>
                <a:latin typeface="Arial"/>
              </a:rPr>
              <a:t>TIER</a:t>
            </a:r>
          </a:p>
          <a:p>
            <a:pPr algn="l">
              <a:lnSpc>
                <a:spcPct val="95000"/>
              </a:lnSpc>
              <a:spcAft>
                <a:spcPts val="220"/>
              </a:spcAft>
            </a:pPr>
            <a:r>
              <a:rPr sz="860" b="0">
                <a:solidFill>
                  <a:srgbClr val="0B1B33"/>
                </a:solidFill>
                <a:latin typeface="Arial"/>
              </a:rPr>
              <a:t>A   ESP32-S3, $5      13M int8 ASR + wake word + grammar decoder      8 MB PSRAM, mW, weeks on battery</a:t>
            </a:r>
          </a:p>
          <a:p>
            <a:pPr algn="l">
              <a:lnSpc>
                <a:spcPct val="95000"/>
              </a:lnSpc>
              <a:spcAft>
                <a:spcPts val="220"/>
              </a:spcAft>
            </a:pPr>
            <a:r>
              <a:rPr sz="860" b="0">
                <a:solidFill>
                  <a:srgbClr val="0B1B33"/>
                </a:solidFill>
                <a:latin typeface="Arial"/>
              </a:rPr>
              <a:t>B   sub-$200 Android / RPi 5      Whistle 16.9 MB + Needle 3, 8-29 MB      500 tok/s, 28-45 MB RAM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60" b="0">
                <a:solidFill>
                  <a:srgbClr val="0B1B33"/>
                </a:solidFill>
                <a:latin typeface="Arial"/>
              </a:rPr>
              <a:t>C   cloud, only if confidence &lt; threshold      frontier model      metered $0.08-0.20 per minute</a:t>
            </a:r>
          </a:p>
          <a:p>
            <a:pPr algn="l">
              <a:lnSpc>
                <a:spcPct val="95000"/>
              </a:lnSpc>
            </a:pPr>
            <a:r>
              <a:rPr sz="840" b="0">
                <a:solidFill>
                  <a:srgbClr val="2A4A77"/>
                </a:solidFill>
                <a:latin typeface="Arial"/>
              </a:rPr>
              <a:t>Same core, same grammar compiler, three power envelopes. Tier A does the wake word and the constrained decode; tier B does open-ended reasoning; tier C is the safety valve.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053328" y="3712463"/>
            <a:ext cx="5522976" cy="1298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lnSpc>
                <a:spcPct val="95000"/>
              </a:lnSpc>
              <a:spcAft>
                <a:spcPts val="250"/>
              </a:spcAft>
            </a:pPr>
            <a:r>
              <a:rPr sz="950" b="1">
                <a:solidFill>
                  <a:srgbClr val="0B6B4F"/>
                </a:solidFill>
                <a:latin typeface="Arial"/>
              </a:rPr>
              <a:t>THE SUBSTRATE, IN REAL NUMBERS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840" b="0">
                <a:solidFill>
                  <a:srgbClr val="0B1B33"/>
                </a:solidFill>
                <a:latin typeface="Arial"/>
              </a:rPr>
              <a:t>•  2.125 bits per weight, trained in from pretraining, never post-hoc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840" b="0">
                <a:solidFill>
                  <a:srgbClr val="0B1B33"/>
                </a:solidFill>
                <a:latin typeface="Arial"/>
              </a:rPr>
              <a:t>•  29 MB binary  ·  29-121M params  ·  8-29 MB  ·  6000 tok/s prefill, 1200 tok/s decode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840" b="0">
                <a:solidFill>
                  <a:srgbClr val="0B1B33"/>
                </a:solidFill>
                <a:latin typeface="Arial"/>
              </a:rPr>
              <a:t>•  3.70% WER on a $5 microcontroller with no neural accelerator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840" b="0">
                <a:solidFill>
                  <a:srgbClr val="0B1B33"/>
                </a:solidFill>
                <a:latin typeface="Arial"/>
              </a:rPr>
              <a:t>•  a 2-layer subnetwork, fine-tuned on one tool set, runs on devices far smaller than the full model needs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053328" y="5120640"/>
            <a:ext cx="5522976" cy="1005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lnSpc>
                <a:spcPct val="95000"/>
              </a:lnSpc>
              <a:spcAft>
                <a:spcPts val="250"/>
              </a:spcAft>
            </a:pPr>
            <a:r>
              <a:rPr sz="950" b="1">
                <a:solidFill>
                  <a:srgbClr val="A83A06"/>
                </a:solidFill>
                <a:latin typeface="Arial"/>
              </a:rPr>
              <a:t>THE THREE CONTRIBUTIONS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860" b="0">
                <a:solidFill>
                  <a:srgbClr val="0B1B33"/>
                </a:solidFill>
                <a:latin typeface="Arial"/>
              </a:rPr>
              <a:t>•  1.  Per-language subnetwork lattice: Tamil pays for 4 layers, code-mixed Hindi pays for 16. One download.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860" b="0">
                <a:solidFill>
                  <a:srgbClr val="0B1B33"/>
                </a:solidFill>
                <a:latin typeface="Arial"/>
              </a:rPr>
              <a:t>•  2.  Grammar as instruction set: one core, one compiled dialect per app, nothing baked into the weights.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860" b="0">
                <a:solidFill>
                  <a:srgbClr val="0B1B33"/>
                </a:solidFill>
                <a:latin typeface="Arial"/>
              </a:rPr>
              <a:t>•  3.  Refusal as a first-class output, calibrated per script, in the user's own register.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3F4359-8B29-029A-032A-C9C0DE84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39" y="0"/>
            <a:ext cx="12185521" cy="6858000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@Hypnexis Idea submission - Template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5DC5F1-ED96-3F38-5B1C-04EDF78423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15159" y="57908"/>
            <a:ext cx="1780390" cy="8020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47B042-B3E0-9BFE-A81E-415BD203FD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451" y="10025"/>
            <a:ext cx="2408675" cy="650992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12648" y="1207008"/>
            <a:ext cx="5230368" cy="230428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lnSpc>
                <a:spcPct val="95000"/>
              </a:lnSpc>
              <a:spcAft>
                <a:spcPts val="250"/>
              </a:spcAft>
            </a:pPr>
            <a:r>
              <a:rPr sz="950" b="1">
                <a:solidFill>
                  <a:srgbClr val="0B6B4F"/>
                </a:solidFill>
                <a:latin typeface="Arial"/>
              </a:rPr>
              <a:t>WHAT IS ALREADY PROVEN</a:t>
            </a:r>
          </a:p>
          <a:p>
            <a:pPr algn="l">
              <a:lnSpc>
                <a:spcPct val="94000"/>
              </a:lnSpc>
              <a:spcAft>
                <a:spcPts val="240"/>
              </a:spcAft>
            </a:pPr>
            <a:r>
              <a:rPr sz="860" b="0" i="1">
                <a:solidFill>
                  <a:srgbClr val="2A4A77"/>
                </a:solidFill>
                <a:latin typeface="Arial"/>
              </a:rPr>
              <a:t>Only the language axis is new. Every hard piece exists, in the open, today.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869" b="0">
                <a:solidFill>
                  <a:srgbClr val="0B1B33"/>
                </a:solidFill>
                <a:latin typeface="Arial"/>
              </a:rPr>
              <a:t>•  Per-task subnetwork fine-tuning lifts every subnetwork 18-36 points; from 4 layers up, a tuned subnetwork passes DeepSeek V4 Flash at 29M params. (Cactus, 2026)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869" b="0">
                <a:solidFill>
                  <a:srgbClr val="0B1B33"/>
                </a:solidFill>
                <a:latin typeface="Arial"/>
              </a:rPr>
              <a:t>•  Open-vocabulary ASR at 3.70% WER on a $5 MCU with no neural accelerator. (Oído, arXiv 2610.13447, 9 Oct 2026)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869" b="0">
                <a:solidFill>
                  <a:srgbClr val="0B1B33"/>
                </a:solidFill>
                <a:latin typeface="Arial"/>
              </a:rPr>
              <a:t>•  Wake word, 200-command recogniser and TTS already run on an ESP32-S3. (Espressif ESP-SR)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869" b="0">
                <a:solidFill>
                  <a:srgbClr val="0B1B33"/>
                </a:solidFill>
                <a:latin typeface="Arial"/>
              </a:rPr>
              <a:t>•  30,000 hours of real farm audio across 10 Indian languages and 5,000 vernacular terms already collected. (Farm Vaidya)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" y="3621024"/>
            <a:ext cx="5230368" cy="250545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lnSpc>
                <a:spcPct val="95000"/>
              </a:lnSpc>
              <a:spcAft>
                <a:spcPts val="250"/>
              </a:spcAft>
            </a:pPr>
            <a:r>
              <a:rPr sz="950" b="1">
                <a:solidFill>
                  <a:srgbClr val="0B5ED7"/>
                </a:solidFill>
                <a:latin typeface="Arial"/>
              </a:rPr>
              <a:t>THE SCALABILITY LINE</a:t>
            </a:r>
          </a:p>
          <a:p>
            <a:pPr algn="l">
              <a:lnSpc>
                <a:spcPct val="94000"/>
              </a:lnSpc>
              <a:spcAft>
                <a:spcPts val="220"/>
              </a:spcAft>
            </a:pPr>
            <a:r>
              <a:rPr sz="1019" b="1">
                <a:solidFill>
                  <a:srgbClr val="0B5ED7"/>
                </a:solidFill>
                <a:latin typeface="Arial"/>
              </a:rPr>
              <a:t>At 10x the tool set breaks before the model does.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880" b="0">
                <a:solidFill>
                  <a:srgbClr val="0B1B33"/>
                </a:solidFill>
                <a:latin typeface="Arial"/>
              </a:rPr>
              <a:t>•  Fix: pre-compile and cache the grammar per tool set, shard the tool set by domain, and ship the grammar with the app. The model is the cheap part.</a:t>
            </a:r>
          </a:p>
          <a:p>
            <a:pPr algn="l">
              <a:lnSpc>
                <a:spcPct val="94000"/>
              </a:lnSpc>
              <a:spcAft>
                <a:spcPts val="300"/>
              </a:spcAft>
            </a:pPr>
            <a:r>
              <a:rPr sz="930" b="0">
                <a:solidFill>
                  <a:srgbClr val="0B1B33"/>
                </a:solidFill>
                <a:latin typeface="Arial"/>
              </a:rPr>
              <a:t/>
            </a:r>
          </a:p>
          <a:p>
            <a:pPr algn="l">
              <a:lnSpc>
                <a:spcPct val="95000"/>
              </a:lnSpc>
              <a:spcAft>
                <a:spcPts val="250"/>
              </a:spcAft>
            </a:pPr>
            <a:r>
              <a:rPr sz="950" b="1">
                <a:solidFill>
                  <a:srgbClr val="A83A06"/>
                </a:solidFill>
                <a:latin typeface="Arial"/>
              </a:rPr>
              <a:t>THE UNIT COST</a:t>
            </a:r>
          </a:p>
          <a:p>
            <a:pPr algn="l">
              <a:lnSpc>
                <a:spcPct val="94000"/>
              </a:lnSpc>
              <a:spcAft>
                <a:spcPts val="220"/>
              </a:spcAft>
            </a:pPr>
            <a:r>
              <a:rPr sz="1019" b="1">
                <a:solidFill>
                  <a:srgbClr val="A83A06"/>
                </a:solidFill>
                <a:latin typeface="Arial"/>
              </a:rPr>
              <a:t>₹0 per action. 0 network bytes. 29 MB of RAM.</a:t>
            </a:r>
          </a:p>
          <a:p>
            <a:pPr algn="l">
              <a:lnSpc>
                <a:spcPct val="94000"/>
              </a:lnSpc>
              <a:spcAft>
                <a:spcPts val="160"/>
              </a:spcAft>
            </a:pPr>
            <a:r>
              <a:rPr sz="880" b="0">
                <a:solidFill>
                  <a:srgbClr val="0B1B33"/>
                </a:solidFill>
                <a:latin typeface="Arial"/>
              </a:rPr>
              <a:t>•  Against a metered API call at $0.08-0.20 per minute, a 38% IVR abandonment rate, and a data-centre round trip for every question.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053328" y="1207008"/>
            <a:ext cx="5522976" cy="49194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lnSpc>
                <a:spcPct val="95000"/>
              </a:lnSpc>
              <a:spcAft>
                <a:spcPts val="250"/>
              </a:spcAft>
            </a:pPr>
            <a:r>
              <a:rPr sz="950" b="1">
                <a:solidFill>
                  <a:srgbClr val="A83A06"/>
                </a:solidFill>
                <a:latin typeface="Arial"/>
              </a:rPr>
              <a:t>SIX RISKS, SIX ANSWERS</a:t>
            </a:r>
          </a:p>
          <a:p>
            <a:pPr algn="l">
              <a:spcAft>
                <a:spcPts val="150"/>
              </a:spcAft>
            </a:pPr>
            <a:r>
              <a:rPr sz="819" b="1">
                <a:solidFill>
                  <a:srgbClr val="A83A06"/>
                </a:solidFill>
                <a:latin typeface="Arial"/>
              </a:rPr>
              <a:t>RISK</a:t>
            </a:r>
          </a:p>
          <a:p>
            <a:pPr algn="l">
              <a:spcAft>
                <a:spcPts val="80"/>
              </a:spcAft>
            </a:pPr>
            <a:r>
              <a:rPr sz="880" b="1">
                <a:solidFill>
                  <a:srgbClr val="0B1B33"/>
                </a:solidFill>
                <a:latin typeface="Arial"/>
              </a:rPr>
              <a:t>1.  No Indic tool-call corpus exists.</a:t>
            </a:r>
          </a:p>
          <a:p>
            <a:pPr algn="l">
              <a:lnSpc>
                <a:spcPct val="94000"/>
              </a:lnSpc>
              <a:spcAft>
                <a:spcPts val="320"/>
              </a:spcAft>
            </a:pPr>
            <a:r>
              <a:rPr sz="840" b="0">
                <a:solidFill>
                  <a:srgbClr val="2A4A77"/>
                </a:solidFill>
                <a:latin typeface="Arial"/>
              </a:rPr>
              <a:t>Synthesise over IndicGenBench and Indic-QA with human verification, the Indic-QA method exactly, and publish it as Indic-ToolCall-Indic.</a:t>
            </a:r>
          </a:p>
          <a:p>
            <a:pPr algn="l">
              <a:spcAft>
                <a:spcPts val="80"/>
              </a:spcAft>
            </a:pPr>
            <a:r>
              <a:rPr sz="880" b="1">
                <a:solidFill>
                  <a:srgbClr val="0B1B33"/>
                </a:solidFill>
                <a:latin typeface="Arial"/>
              </a:rPr>
              <a:t>2.  English-first pretraining, worst on low-resource languages.</a:t>
            </a:r>
          </a:p>
          <a:p>
            <a:pPr algn="l">
              <a:lnSpc>
                <a:spcPct val="94000"/>
              </a:lnSpc>
              <a:spcAft>
                <a:spcPts val="320"/>
              </a:spcAft>
            </a:pPr>
            <a:r>
              <a:rPr sz="840" b="0">
                <a:solidFill>
                  <a:srgbClr val="2A4A77"/>
                </a:solidFill>
                <a:latin typeface="Arial"/>
              </a:rPr>
              <a:t>Per-language subnetworks instead of one Indic model. Translate-Test is the baseline we have to beat, not our method.</a:t>
            </a:r>
          </a:p>
          <a:p>
            <a:pPr algn="l">
              <a:spcAft>
                <a:spcPts val="80"/>
              </a:spcAft>
            </a:pPr>
            <a:r>
              <a:rPr sz="880" b="1">
                <a:solidFill>
                  <a:srgbClr val="0B1B33"/>
                </a:solidFill>
                <a:latin typeface="Arial"/>
              </a:rPr>
              <a:t>3.  Code-mixed speech, field noise, dialect.</a:t>
            </a:r>
          </a:p>
          <a:p>
            <a:pPr algn="l">
              <a:lnSpc>
                <a:spcPct val="94000"/>
              </a:lnSpc>
              <a:spcAft>
                <a:spcPts val="320"/>
              </a:spcAft>
            </a:pPr>
            <a:r>
              <a:rPr sz="840" b="0">
                <a:solidFill>
                  <a:srgbClr val="2A4A77"/>
                </a:solidFill>
                <a:latin typeface="Arial"/>
              </a:rPr>
              <a:t>The grammar bounds the action space, so noise yields a valid action or a refusal, never a malformed one. This is the structural payoff of constraining at the decoder.</a:t>
            </a:r>
          </a:p>
          <a:p>
            <a:pPr algn="l">
              <a:spcAft>
                <a:spcPts val="80"/>
              </a:spcAft>
            </a:pPr>
            <a:r>
              <a:rPr sz="880" b="1">
                <a:solidFill>
                  <a:srgbClr val="0B1B33"/>
                </a:solidFill>
                <a:latin typeface="Arial"/>
              </a:rPr>
              <a:t>4.  Thirteen scripts inside a 29 MB budget.</a:t>
            </a:r>
          </a:p>
          <a:p>
            <a:pPr algn="l">
              <a:lnSpc>
                <a:spcPct val="94000"/>
              </a:lnSpc>
              <a:spcAft>
                <a:spcPts val="320"/>
              </a:spcAft>
            </a:pPr>
            <a:r>
              <a:rPr sz="840" b="0">
                <a:solidFill>
                  <a:srgbClr val="2A4A77"/>
                </a:solidFill>
                <a:latin typeface="Arial"/>
              </a:rPr>
              <a:t>The lattice. Script-clustered vocabularies with shared subword units, and a per-script subnetwork. Worst case falls back to a 20-layer code-mixed subnetwork.</a:t>
            </a:r>
          </a:p>
          <a:p>
            <a:pPr algn="l">
              <a:spcAft>
                <a:spcPts val="80"/>
              </a:spcAft>
            </a:pPr>
            <a:r>
              <a:rPr sz="880" b="1">
                <a:solidFill>
                  <a:srgbClr val="0B1B33"/>
                </a:solidFill>
                <a:latin typeface="Arial"/>
              </a:rPr>
              <a:t>5.  There is no benchmark to be judged on.</a:t>
            </a:r>
          </a:p>
          <a:p>
            <a:pPr algn="l">
              <a:lnSpc>
                <a:spcPct val="94000"/>
              </a:lnSpc>
              <a:spcAft>
                <a:spcPts val="320"/>
              </a:spcAft>
            </a:pPr>
            <a:r>
              <a:rPr sz="840" b="0">
                <a:solidFill>
                  <a:srgbClr val="2A4A77"/>
                </a:solidFill>
                <a:latin typeface="Arial"/>
              </a:rPr>
              <a:t>Propose Indic-ToolCall-Indic as a BFCL and MLCL extension, and publish the set with the model. A published benchmark is a moat.</a:t>
            </a:r>
          </a:p>
          <a:p>
            <a:pPr algn="l">
              <a:spcAft>
                <a:spcPts val="80"/>
              </a:spcAft>
            </a:pPr>
            <a:r>
              <a:rPr sz="880" b="1">
                <a:solidFill>
                  <a:srgbClr val="0B1B33"/>
                </a:solidFill>
                <a:latin typeface="Arial"/>
              </a:rPr>
              <a:t>6.  The buyer is not the user.</a:t>
            </a:r>
          </a:p>
          <a:p>
            <a:pPr algn="l">
              <a:lnSpc>
                <a:spcPct val="94000"/>
              </a:lnSpc>
            </a:pPr>
            <a:r>
              <a:rPr sz="840" b="0">
                <a:solidFill>
                  <a:srgbClr val="2A4A77"/>
                </a:solidFill>
                <a:latin typeface="Arial"/>
              </a:rPr>
              <a:t>True, and we name it. The payer is a state programme, an FPO, an NGO or a device maker. At ₹0 marginal cost, a state programme can put 100,000 devices in the field for the cost of the devices.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06AA18-4BA8-9847-65D0-E22CEDA890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39" y="0"/>
            <a:ext cx="12185521" cy="6858000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@Hypnexis Idea submission - Template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74F671-6B38-8FCA-82CB-074709FF6F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15159" y="57908"/>
            <a:ext cx="1780390" cy="8020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A95311-ECDA-4D13-C554-588A1709DD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451" y="10025"/>
            <a:ext cx="2408675" cy="650992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12648" y="1188720"/>
            <a:ext cx="2670048" cy="1005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ctr">
              <a:lnSpc>
                <a:spcPct val="90000"/>
              </a:lnSpc>
              <a:spcAft>
                <a:spcPts val="150"/>
              </a:spcAft>
            </a:pPr>
            <a:r>
              <a:rPr sz="2100" b="1">
                <a:solidFill>
                  <a:srgbClr val="0B5ED7"/>
                </a:solidFill>
                <a:latin typeface="Arial"/>
              </a:rPr>
              <a:t>140M</a:t>
            </a:r>
          </a:p>
          <a:p>
            <a:pPr algn="ctr">
              <a:lnSpc>
                <a:spcPct val="92000"/>
              </a:lnSpc>
            </a:pPr>
            <a:r>
              <a:rPr sz="850" b="0">
                <a:solidFill>
                  <a:srgbClr val="2A4A77"/>
                </a:solidFill>
                <a:latin typeface="Arial"/>
              </a:rPr>
              <a:t>farmers addressable in India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383279" y="1188720"/>
            <a:ext cx="2670048" cy="1005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ctr">
              <a:lnSpc>
                <a:spcPct val="90000"/>
              </a:lnSpc>
              <a:spcAft>
                <a:spcPts val="150"/>
              </a:spcAft>
            </a:pPr>
            <a:r>
              <a:rPr sz="2100" b="1">
                <a:solidFill>
                  <a:srgbClr val="0B5ED7"/>
                </a:solidFill>
                <a:latin typeface="Arial"/>
              </a:rPr>
              <a:t>1.86 lakh</a:t>
            </a:r>
          </a:p>
          <a:p>
            <a:pPr algn="ctr">
              <a:lnSpc>
                <a:spcPct val="92000"/>
              </a:lnSpc>
            </a:pPr>
            <a:r>
              <a:rPr sz="850" b="0">
                <a:solidFill>
                  <a:srgbClr val="2A4A77"/>
                </a:solidFill>
                <a:latin typeface="Arial"/>
              </a:rPr>
              <a:t>Anganwadi centres, 540 crore visits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53912" y="1188720"/>
            <a:ext cx="2670048" cy="1005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ctr">
              <a:lnSpc>
                <a:spcPct val="90000"/>
              </a:lnSpc>
              <a:spcAft>
                <a:spcPts val="150"/>
              </a:spcAft>
            </a:pPr>
            <a:r>
              <a:rPr sz="2100" b="1">
                <a:solidFill>
                  <a:srgbClr val="0B5ED7"/>
                </a:solidFill>
                <a:latin typeface="Arial"/>
              </a:rPr>
              <a:t>122+</a:t>
            </a:r>
          </a:p>
          <a:p>
            <a:pPr algn="ctr">
              <a:lnSpc>
                <a:spcPct val="92000"/>
              </a:lnSpc>
            </a:pPr>
            <a:r>
              <a:rPr sz="850" b="0">
                <a:solidFill>
                  <a:srgbClr val="2A4A77"/>
                </a:solidFill>
                <a:latin typeface="Arial"/>
              </a:rPr>
              <a:t>languages spoken in India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924544" y="1188720"/>
            <a:ext cx="2670048" cy="1005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ctr">
              <a:lnSpc>
                <a:spcPct val="90000"/>
              </a:lnSpc>
              <a:spcAft>
                <a:spcPts val="150"/>
              </a:spcAft>
            </a:pPr>
            <a:r>
              <a:rPr sz="2100" b="1">
                <a:solidFill>
                  <a:srgbClr val="0B6B4F"/>
                </a:solidFill>
                <a:latin typeface="Arial"/>
              </a:rPr>
              <a:t>₹0</a:t>
            </a:r>
          </a:p>
          <a:p>
            <a:pPr algn="ctr">
              <a:lnSpc>
                <a:spcPct val="92000"/>
              </a:lnSpc>
            </a:pPr>
            <a:r>
              <a:rPr sz="850" b="0">
                <a:solidFill>
                  <a:srgbClr val="2A4A77"/>
                </a:solidFill>
                <a:latin typeface="Arial"/>
              </a:rPr>
              <a:t>marginal cost per AI action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2648" y="2304288"/>
            <a:ext cx="6675120" cy="3822191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lnSpc>
                <a:spcPct val="95000"/>
              </a:lnSpc>
              <a:spcAft>
                <a:spcPts val="250"/>
              </a:spcAft>
            </a:pPr>
            <a:r>
              <a:rPr sz="950" b="1">
                <a:solidFill>
                  <a:srgbClr val="0B5ED7"/>
                </a:solidFill>
                <a:latin typeface="Arial"/>
              </a:rPr>
              <a:t>EVERYONE HAS ONE PIECE. NOBODY HAS THE LAST MILE.</a:t>
            </a:r>
          </a:p>
          <a:p>
            <a:pPr algn="l">
              <a:spcAft>
                <a:spcPts val="120"/>
              </a:spcAft>
            </a:pPr>
            <a:r>
              <a:rPr sz="800" b="1">
                <a:solidFill>
                  <a:srgbClr val="0B5ED7"/>
                </a:solidFill>
                <a:latin typeface="Arial"/>
              </a:rPr>
              <a:t>WHO</a:t>
            </a:r>
          </a:p>
          <a:p>
            <a:pPr algn="l">
              <a:spcAft>
                <a:spcPts val="40"/>
              </a:spcAft>
            </a:pPr>
            <a:r>
              <a:rPr sz="869" b="1">
                <a:solidFill>
                  <a:srgbClr val="0B1B33"/>
                </a:solidFill>
                <a:latin typeface="Arial"/>
              </a:rPr>
              <a:t>Bhashini, Government of India</a:t>
            </a:r>
          </a:p>
          <a:p>
            <a:pPr algn="l">
              <a:spcAft>
                <a:spcPts val="260"/>
              </a:spcAft>
            </a:pPr>
            <a:r>
              <a:rPr sz="830" b="0">
                <a:solidFill>
                  <a:srgbClr val="2A4A77"/>
                </a:solidFill>
                <a:latin typeface="Arial"/>
              </a:rPr>
              <a:t>$600M budget, LLMs for 100 Indian languages. Cloud scale.</a:t>
            </a:r>
          </a:p>
          <a:p>
            <a:pPr algn="l">
              <a:spcAft>
                <a:spcPts val="40"/>
              </a:spcAft>
            </a:pPr>
            <a:r>
              <a:rPr sz="869" b="1">
                <a:solidFill>
                  <a:srgbClr val="0B1B33"/>
                </a:solidFill>
                <a:latin typeface="Arial"/>
              </a:rPr>
              <a:t>Trilateral AI Hub (India, Italy, Africa)</a:t>
            </a:r>
          </a:p>
          <a:p>
            <a:pPr algn="l">
              <a:spcAft>
                <a:spcPts val="260"/>
              </a:spcAft>
            </a:pPr>
            <a:r>
              <a:rPr sz="830" b="0">
                <a:solidFill>
                  <a:srgbClr val="2A4A77"/>
                </a:solidFill>
                <a:latin typeface="Arial"/>
              </a:rPr>
              <a:t>Offline voice for agriculture and fintech, but powered by European supercompute.</a:t>
            </a:r>
          </a:p>
          <a:p>
            <a:pPr algn="l">
              <a:spcAft>
                <a:spcPts val="40"/>
              </a:spcAft>
            </a:pPr>
            <a:r>
              <a:rPr sz="869" b="1">
                <a:solidFill>
                  <a:srgbClr val="0B1B33"/>
                </a:solidFill>
                <a:latin typeface="Arial"/>
              </a:rPr>
              <a:t>FarmerChat / Digital Green</a:t>
            </a:r>
          </a:p>
          <a:p>
            <a:pPr algn="l">
              <a:spcAft>
                <a:spcPts val="260"/>
              </a:spcAft>
            </a:pPr>
            <a:r>
              <a:rPr sz="830" b="0">
                <a:solidFill>
                  <a:srgbClr val="2A4A77"/>
                </a:solidFill>
                <a:latin typeface="Arial"/>
              </a:rPr>
              <a:t>1M+ users, 30,000 h of farm audio, 16-23% WER reduction. Cloud.</a:t>
            </a:r>
          </a:p>
          <a:p>
            <a:pPr algn="l">
              <a:spcAft>
                <a:spcPts val="40"/>
              </a:spcAft>
            </a:pPr>
            <a:r>
              <a:rPr sz="869" b="1">
                <a:solidFill>
                  <a:srgbClr val="0B1B33"/>
                </a:solidFill>
                <a:latin typeface="Arial"/>
              </a:rPr>
              <a:t>Farm Vaidya, Farm Vighnaharta</a:t>
            </a:r>
          </a:p>
          <a:p>
            <a:pPr algn="l">
              <a:spcAft>
                <a:spcPts val="260"/>
              </a:spcAft>
            </a:pPr>
            <a:r>
              <a:rPr sz="830" b="0">
                <a:solidFill>
                  <a:srgbClr val="2A4A77"/>
                </a:solidFill>
                <a:latin typeface="Arial"/>
              </a:rPr>
              <a:t>5,000+ crop Q&amp;A across 100+ crops, Telugu. Cloud, and field WER above 50%.</a:t>
            </a:r>
          </a:p>
          <a:p>
            <a:pPr algn="l">
              <a:spcAft>
                <a:spcPts val="40"/>
              </a:spcAft>
            </a:pPr>
            <a:r>
              <a:rPr sz="869" b="1">
                <a:solidFill>
                  <a:srgbClr val="0B1B33"/>
                </a:solidFill>
                <a:latin typeface="Arial"/>
              </a:rPr>
              <a:t>BharatSahayak, Yuverse, Bharosa AI</a:t>
            </a:r>
          </a:p>
          <a:p>
            <a:pPr algn="l">
              <a:spcAft>
                <a:spcPts val="260"/>
              </a:spcAft>
            </a:pPr>
            <a:r>
              <a:rPr sz="830" b="0">
                <a:solidFill>
                  <a:srgbClr val="2A4A77"/>
                </a:solidFill>
                <a:latin typeface="Arial"/>
              </a:rPr>
              <a:t>Voice-first, 3,400+ schemes, offline on 1 GB RAM. Cloud or app layer.</a:t>
            </a:r>
          </a:p>
          <a:p>
            <a:pPr algn="l">
              <a:spcAft>
                <a:spcPts val="40"/>
              </a:spcAft>
            </a:pPr>
            <a:r>
              <a:rPr sz="869" b="1">
                <a:solidFill>
                  <a:srgbClr val="0B1B33"/>
                </a:solidFill>
                <a:latin typeface="Arial"/>
              </a:rPr>
              <a:t>Cactus, Oído, Espressif</a:t>
            </a:r>
          </a:p>
          <a:p>
            <a:pPr algn="l">
              <a:spcAft>
                <a:spcPts val="320"/>
              </a:spcAft>
            </a:pPr>
            <a:r>
              <a:rPr sz="830" b="0">
                <a:solidFill>
                  <a:srgbClr val="2A4A77"/>
                </a:solidFill>
                <a:latin typeface="Arial"/>
              </a:rPr>
              <a:t>The on-device substrate, at $5 to $150, in English.</a:t>
            </a:r>
          </a:p>
          <a:p>
            <a:pPr algn="l">
              <a:lnSpc>
                <a:spcPct val="95000"/>
              </a:lnSpc>
            </a:pPr>
            <a:r>
              <a:rPr sz="960" b="1">
                <a:solidFill>
                  <a:srgbClr val="0B6B4F"/>
                </a:solidFill>
                <a:latin typeface="Arial"/>
              </a:rPr>
              <a:t>THE GAP:  offline  +  $5  +  grammar-safe  +  Indic  +  zero marginal cost.  Nobody has built it, and every hard component to build it is already open.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7498079" y="2304288"/>
            <a:ext cx="4078224" cy="3822191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lnSpc>
                <a:spcPct val="95000"/>
              </a:lnSpc>
              <a:spcAft>
                <a:spcPts val="250"/>
              </a:spcAft>
            </a:pPr>
            <a:r>
              <a:rPr sz="950" b="1">
                <a:solidFill>
                  <a:srgbClr val="A83A06"/>
                </a:solidFill>
                <a:latin typeface="Arial"/>
              </a:rPr>
              <a:t>THE THREE BUCKETS</a:t>
            </a:r>
          </a:p>
          <a:p>
            <a:pPr algn="l">
              <a:spcAft>
                <a:spcPts val="120"/>
              </a:spcAft>
            </a:pPr>
            <a:r>
              <a:rPr sz="900" b="1">
                <a:solidFill>
                  <a:srgbClr val="A83A06"/>
                </a:solidFill>
                <a:latin typeface="Arial"/>
              </a:rPr>
              <a:t>SOCIAL</a:t>
            </a:r>
          </a:p>
          <a:p>
            <a:pPr algn="l">
              <a:lnSpc>
                <a:spcPct val="94000"/>
              </a:lnSpc>
              <a:spcAft>
                <a:spcPts val="320"/>
              </a:spcAft>
            </a:pPr>
            <a:r>
              <a:rPr sz="850" b="0">
                <a:solidFill>
                  <a:srgbClr val="0B1B33"/>
                </a:solidFill>
                <a:latin typeface="Arial"/>
              </a:rPr>
              <a:t>Voice is the only interface for the roughly 250 million adults who cannot read a screen. It also removes the human intermediary who today translates the question and fills the form.</a:t>
            </a:r>
          </a:p>
          <a:p>
            <a:pPr algn="l">
              <a:spcAft>
                <a:spcPts val="120"/>
              </a:spcAft>
            </a:pPr>
            <a:r>
              <a:rPr sz="900" b="1">
                <a:solidFill>
                  <a:srgbClr val="A83A06"/>
                </a:solidFill>
                <a:latin typeface="Arial"/>
              </a:rPr>
              <a:t>ECONOMIC</a:t>
            </a:r>
          </a:p>
          <a:p>
            <a:pPr algn="l">
              <a:lnSpc>
                <a:spcPct val="94000"/>
              </a:lnSpc>
              <a:spcAft>
                <a:spcPts val="320"/>
              </a:spcAft>
            </a:pPr>
            <a:r>
              <a:rPr sz="850" b="0">
                <a:solidFill>
                  <a:srgbClr val="0B1B33"/>
                </a:solidFill>
                <a:latin typeface="Arial"/>
              </a:rPr>
              <a:t>The marginal cost of an AI action collapses from a metered API call to a local forward pass. No vendor lock, no per-seat pricing, no data leaving the device.</a:t>
            </a:r>
          </a:p>
          <a:p>
            <a:pPr algn="l">
              <a:spcAft>
                <a:spcPts val="120"/>
              </a:spcAft>
            </a:pPr>
            <a:r>
              <a:rPr sz="900" b="1">
                <a:solidFill>
                  <a:srgbClr val="A83A06"/>
                </a:solidFill>
                <a:latin typeface="Arial"/>
              </a:rPr>
              <a:t>ENVIRONMENTAL</a:t>
            </a:r>
          </a:p>
          <a:p>
            <a:pPr algn="l">
              <a:lnSpc>
                <a:spcPct val="94000"/>
              </a:lnSpc>
              <a:spcAft>
                <a:spcPts val="320"/>
              </a:spcAft>
            </a:pPr>
            <a:r>
              <a:rPr sz="850" b="0">
                <a:solidFill>
                  <a:srgbClr val="0B1B33"/>
                </a:solidFill>
                <a:latin typeface="Arial"/>
              </a:rPr>
              <a:t>Zero network bytes per action, at 1.4 billion people. Every avoided round trip is avoided data-centre energy.</a:t>
            </a:r>
          </a:p>
          <a:p>
            <a:pPr algn="l">
              <a:spcAft>
                <a:spcPts val="120"/>
              </a:spcAft>
            </a:pPr>
            <a:r>
              <a:rPr sz="900" b="1">
                <a:solidFill>
                  <a:srgbClr val="0B6B4F"/>
                </a:solidFill>
                <a:latin typeface="Arial"/>
              </a:rPr>
              <a:t>FIRST ADOPTER</a:t>
            </a:r>
          </a:p>
          <a:p>
            <a:pPr algn="l">
              <a:lnSpc>
                <a:spcPct val="94000"/>
              </a:lnSpc>
              <a:spcAft>
                <a:spcPts val="320"/>
              </a:spcAft>
            </a:pPr>
            <a:r>
              <a:rPr sz="850" b="0">
                <a:solidFill>
                  <a:srgbClr val="0B1B33"/>
                </a:solidFill>
                <a:latin typeface="Arial"/>
              </a:rPr>
              <a:t>One district health or agricultural app. One sub-$200 Android. One 2G-only taluka. Measured by actions completed per device per day with zero network dependence.</a:t>
            </a:r>
          </a:p>
          <a:p>
            <a:pPr algn="l">
              <a:spcAft>
                <a:spcPts val="120"/>
              </a:spcAft>
            </a:pPr>
            <a:r>
              <a:rPr sz="900" b="1">
                <a:solidFill>
                  <a:srgbClr val="0B5ED7"/>
                </a:solidFill>
                <a:latin typeface="Arial"/>
              </a:rPr>
              <a:t>THE COMPILER TEST</a:t>
            </a:r>
          </a:p>
          <a:p>
            <a:pPr algn="l">
              <a:lnSpc>
                <a:spcPct val="94000"/>
              </a:lnSpc>
            </a:pPr>
            <a:r>
              <a:rPr sz="850" b="0">
                <a:solidFill>
                  <a:srgbClr val="0B1B33"/>
                </a:solidFill>
                <a:latin typeface="Arial"/>
              </a:rPr>
              <a:t>Farm advisory, scheme eligibility, price and weather, appointment booking, status check, record lookup. All enumerable, all machine-callable, all safety-critical where a wrong action destroys a crop.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137BA0-37AA-DE36-0682-98322B8905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39" y="0"/>
            <a:ext cx="12185521" cy="6858000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@Hypnexis Idea submission - Template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47BFCE-39E1-4FAE-B74C-B11E7F7102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15159" y="57908"/>
            <a:ext cx="1780390" cy="8020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0C8303-A81B-AA4E-8865-BDD2F931CC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451" y="10025"/>
            <a:ext cx="2408675" cy="650992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12648" y="1188720"/>
            <a:ext cx="3566160" cy="4389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lnSpc>
                <a:spcPct val="95000"/>
              </a:lnSpc>
              <a:spcAft>
                <a:spcPts val="250"/>
              </a:spcAft>
            </a:pPr>
            <a:r>
              <a:rPr sz="919" b="1">
                <a:solidFill>
                  <a:srgbClr val="0B5ED7"/>
                </a:solidFill>
                <a:latin typeface="Arial"/>
              </a:rPr>
              <a:t>THE FAILURE WE ATTACK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50" b="0">
                <a:solidFill>
                  <a:srgbClr val="0B1B33"/>
                </a:solidFill>
                <a:latin typeface="Arial"/>
              </a:rPr>
              <a:t>arXiv 2601.05366, Lost in Execution: On the Multilingual Robustness of Tool Calling in LLMs. MLCL extends BFCL with Chinese, Hindi and Igbo.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50" b="0">
                <a:solidFill>
                  <a:srgbClr val="0B1B33"/>
                </a:solidFill>
                <a:latin typeface="Arial"/>
              </a:rPr>
              <a:t>Semantically appropriate yet operationally invalid. Parameter values must follow execution conventions such as English string identifiers.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50" b="0">
                <a:solidFill>
                  <a:srgbClr val="0B1B33"/>
                </a:solidFill>
                <a:latin typeface="Arial"/>
              </a:rPr>
              <a:t>Parameter value language mismatch. Failures arise at the language-execution boundary, not from intent misunderstanding. Silent non-executable calls.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50" b="0">
                <a:solidFill>
                  <a:srgbClr val="0B1B33"/>
                </a:solidFill>
                <a:latin typeface="Arial"/>
              </a:rPr>
              <a:t>arXiv 2404.16816, IndicGenBench: 29 Indic languages, 13 scripts, 4 families, 1.4 billion people.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50" b="0">
                <a:solidFill>
                  <a:srgbClr val="0B1B33"/>
                </a:solidFill>
                <a:latin typeface="Arial"/>
              </a:rPr>
              <a:t>arXiv 2407.13522 and Findings NAACL 2025, Indic-QA: 11 languages, subpar on low-resource, Translate-Test beats direct multilingual inference.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297680" y="1188720"/>
            <a:ext cx="3566160" cy="4389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lnSpc>
                <a:spcPct val="95000"/>
              </a:lnSpc>
              <a:spcAft>
                <a:spcPts val="250"/>
              </a:spcAft>
            </a:pPr>
            <a:r>
              <a:rPr sz="919" b="1">
                <a:solidFill>
                  <a:srgbClr val="0B6B4F"/>
                </a:solidFill>
                <a:latin typeface="Arial"/>
              </a:rPr>
              <a:t>THE SUBSTRATE WE STAND ON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50" b="0">
                <a:solidFill>
                  <a:srgbClr val="0B1B33"/>
                </a:solidFill>
                <a:latin typeface="Arial"/>
              </a:rPr>
              <a:t>Cactus Compute, Needle 3 and Cactus engine. Apache 2.0. github.com/cactus-compute/needle, github.com/cactus-compute/cactus, HF Cactus-Compute/needle3.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50" b="0">
                <a:solidFill>
                  <a:srgbClr val="0B1B33"/>
                </a:solidFill>
                <a:latin typeface="Arial"/>
              </a:rPr>
              <a:t>cactuscompute.com/blog: needle, needle-2, whistle, hybrid, cact-format, finetuning-needle, porting-needle. Includes a published porting oracle to test a runtime against.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50" b="0">
                <a:solidFill>
                  <a:srgbClr val="0B1B33"/>
                </a:solidFill>
                <a:latin typeface="Arial"/>
              </a:rPr>
              <a:t>arXiv 2607.18363, Simple Attention Networks.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50" b="0">
                <a:solidFill>
                  <a:srgbClr val="0B1B33"/>
                </a:solidFill>
                <a:latin typeface="Arial"/>
              </a:rPr>
              <a:t>Oído, arXiv 2610.13447, 9 Oct 2026. Open-vocabulary speech recognition on a $5 microcontroller without a neural accelerator.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50" b="0">
                <a:solidFill>
                  <a:srgbClr val="0B1B33"/>
                </a:solidFill>
                <a:latin typeface="Arial"/>
              </a:rPr>
              <a:t>Espressif ESP-SR: WakeNet wake word, MultiNet with up to 200 commands, and on-chip TTS.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50" b="0">
                <a:solidFill>
                  <a:srgbClr val="0B1B33"/>
                </a:solidFill>
                <a:latin typeface="Arial"/>
              </a:rPr>
              <a:t>DroidCall, Findings EMNLP 2025. google/mobile-actions, 9,654 rows. Salesforce xlam-function-calling-60k.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982712" y="1188720"/>
            <a:ext cx="3566160" cy="4389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>
              <a:lnSpc>
                <a:spcPct val="95000"/>
              </a:lnSpc>
              <a:spcAft>
                <a:spcPts val="250"/>
              </a:spcAft>
            </a:pPr>
            <a:r>
              <a:rPr sz="919" b="1">
                <a:solidFill>
                  <a:srgbClr val="A83A06"/>
                </a:solidFill>
                <a:latin typeface="Arial"/>
              </a:rPr>
              <a:t>THE DEPLOYMENT PRECEDENT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50" b="0">
                <a:solidFill>
                  <a:srgbClr val="0B1B33"/>
                </a:solidFill>
                <a:latin typeface="Arial"/>
              </a:rPr>
              <a:t>NCMS 2026 ALC exhibit directory. Edlore AI-Server: TRL-6, no cloud connectivity, voice-assisted, peer-to-peer sync, NIST-aligned, in disconnected and contested environments.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50" b="0">
                <a:solidFill>
                  <a:srgbClr val="0B1B33"/>
                </a:solidFill>
                <a:latin typeface="Arial"/>
              </a:rPr>
              <a:t>NCMS, Artificial Intelligence to Improve Supply Chain Resilience Throughout American Manufacturing, 2024. NCMS Technology Brief on hybrid AI, Oct 2026.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50" b="0">
                <a:solidFill>
                  <a:srgbClr val="0B1B33"/>
                </a:solidFill>
                <a:latin typeface="Arial"/>
              </a:rPr>
              <a:t>FarmerChat, Digital Green, with a 60 Decibels study: 1M+ users, 60% acted on the advice, 83% said information was easier to access, 91% greater confidence.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50" b="0">
                <a:solidFill>
                  <a:srgbClr val="0B1B33"/>
                </a:solidFill>
                <a:latin typeface="Arial"/>
              </a:rPr>
              <a:t>Farm Vaidya, IFPRI, Apr 2026: 50%+ field STT error, 30,000 h across 10 Indian languages, target under 3% WER, 5,000+ vernacular terms collected.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50" b="0">
                <a:solidFill>
                  <a:srgbClr val="0B1B33"/>
                </a:solidFill>
                <a:latin typeface="Arial"/>
              </a:rPr>
              <a:t>BharatGen and IIIT Hyderabad: 13K questions across 11 low-resource Indic languages, best model near 58%.</a:t>
            </a:r>
          </a:p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750" b="0">
                <a:solidFill>
                  <a:srgbClr val="0B1B33"/>
                </a:solidFill>
                <a:latin typeface="Arial"/>
              </a:rPr>
              <a:t>Bhashini: $600M, 100 Indian languages. Trilateral AI Hub: India, Italy and Africa.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2648" y="5669280"/>
            <a:ext cx="10963656" cy="566928"/>
          </a:xfrm>
          <a:prstGeom prst="roundRect">
            <a:avLst>
              <a:gd name="adj" fmla="val 4500"/>
            </a:avLst>
          </a:prstGeom>
          <a:solidFill>
            <a:srgbClr val="ECF6FF"/>
          </a:solidFill>
          <a:ln w="9525">
            <a:solidFill>
              <a:srgbClr val="9EC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ctr">
              <a:lnSpc>
                <a:spcPct val="95000"/>
              </a:lnSpc>
            </a:pPr>
            <a:r>
              <a:rPr sz="900" b="1">
                <a:solidFill>
                  <a:srgbClr val="0B1B33"/>
                </a:solidFill>
                <a:latin typeface="Arial"/>
              </a:rPr>
              <a:t>OURS:  Indic-ToolCall-Indic, a published benchmark extension  ·  the per-language subnetwork lattice  ·  the grammar-as-instruction-set compiler  ·  the per-script calibration and refusal protocol  ·  the ablation plan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8223</TotalTime>
  <Words>268</Words>
  <Application>Microsoft Office PowerPoint</Application>
  <PresentationFormat>Widescreen</PresentationFormat>
  <Paragraphs>42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ABOUT THE PROJECT</vt:lpstr>
      <vt:lpstr>TECHNICAL APPROACH</vt:lpstr>
      <vt:lpstr>FEASIBILITY AND VIABILITY</vt:lpstr>
      <vt:lpstr>IMPACT AND BENEFITS</vt:lpstr>
      <vt:lpstr>RESEARCH  AND REFERENCES</vt:lpstr>
      <vt:lpstr>Submission Guidelines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gracy sonwan</cp:lastModifiedBy>
  <cp:revision>152</cp:revision>
  <dcterms:created xsi:type="dcterms:W3CDTF">2013-12-12T18:46:50Z</dcterms:created>
  <dcterms:modified xsi:type="dcterms:W3CDTF">2026-09-30T08:50:23Z</dcterms:modified>
  <cp:category/>
</cp:coreProperties>
</file>